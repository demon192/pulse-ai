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TeamPulse AI is the working team and project name. Team leader and member were supplied by the team. No official problem ID was supplied.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Problem framing drawn from README.md and docs/proposal.md. This replaces the template's download instructions; no external productivity statistics are claimed.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Theme: Future of Work &amp; Enterprise Productivity. The prototype supports knowledge access, collaboration, decision making and workflow execution. Sources: README.md; backend/app/services/handovers.py. Efficiency gains have not been measured with a real team.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These distinctions describe the implemented prototype, not a claim of uniqueness against every competitor. Sources: notifications/service.py, services/handovers.py, rules/candidates.py.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Implemented features inspected in frontend/src/pages and backend/app/api/routes. The current local demo uses deterministic fallback because no Gemini key was configured for this run.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Editable process diagram. Sources: backend/app/services/handovers.py; backend/tests/test_handover_flow.py. Verified locally: manager approval retains Rhea as task owner until Arjun accepts.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Screenshot captured from the existing app on 18 October 2026. No mock interface was created. Source: deliverables/evidence/01-manager-overview.png.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Editable architecture diagram. Sources: backend/app/main.py, repositories/database.py, ai/service.py, core/security.py, frontend/src/services/auth.ts. Firestore, live Firebase identity and Cloud Run were not tested in this local validation.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Source: frontend/package.json, backend/requirements.txt, Dockerfile. Runtime used for this validation: Python 3.12.10 and Node 24.22.0. Locked Firebase packages require Node &gt;=24.12, although README currently says Node 20+.</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No current vendor pricing is asserted. Local mode requires no paid service; hardware, electricity and developer time are excluded. A hosted budget requires explicit workload assumptions and current vendor calculators.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Actual local screenshot: deliverables/evidence/09-candidate-ranking.png. Synthetic ranking: Arjun 84, Lena 72.5. Weights are initial design choices, not validated performance measures.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Fresh validation on 18 October 2026. Sources: deliverables/evidence/backend-tests.xml; frontend Vitest output (47 passed); scripts/run_evaluation.py output. Coverage: 3,244 statements, 307 missed (90.54%, rounded to 91%). No latency benchmark, user study or production performance claim is made.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Future items are a backlog, not changes made during this task. Source code remains unchanged. Known gaps: docs/evaluation.md and this repository review. Cloud deployment and live AI were not revalidated.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team will record the demo themselves using the companion three-minute script. Add the public video URL before final submission. localhost is accessible only on the demo computer. Replace it with the hosted app URL when deployment is complete. No upload or cloud publication was performed.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companion demo script provides narration and exact persona changes. Synthetic personas are Priya, Diego, Rhea and Arjun. Demonstrate fallback openly when a Gemini key is not configured.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hyperlink" Target="https://github.com/demon192/pulse-ai" TargetMode="External"/><Relationship Id="rId6" Type="http://schemas.openxmlformats.org/officeDocument/2006/relationships/hyperlink" Target="http://127.0.0.1:800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852928"/>
            <a:ext cx="8760000" cy="214884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900"/>
              </a:spcAft>
              <a:buNone/>
              <a:defRPr sz="2200" b="1">
                <a:latin typeface="Google Sans Flex"/>
              </a:defRPr>
            </a:pPr>
            <a:r>
              <a:t>TeamPulse AI</a:t>
            </a:r>
            <a:endParaRPr sz="2100">
              <a:latin typeface="Google Sans Flex SemiBold"/>
              <a:ea typeface="Google Sans Flex SemiBold"/>
              <a:cs typeface="Google Sans Flex SemiBold"/>
              <a:sym typeface="Google Sans Flex SemiBold"/>
            </a:endParaRPr>
          </a:p>
          <a:p>
            <a:pPr>
              <a:spcAft>
                <a:spcPts val="900"/>
              </a:spcAft>
              <a:defRPr sz="1600" b="0">
                <a:latin typeface="Google Sans Flex"/>
              </a:defRPr>
            </a:pPr>
            <a:r>
              <a:t>Team leader: Riya Bisht  |  Team member: Ishu Mehra</a:t>
            </a:r>
          </a:p>
          <a:p>
            <a:pPr>
              <a:spcAft>
                <a:spcPts val="900"/>
              </a:spcAft>
              <a:defRPr sz="1600" b="0">
                <a:latin typeface="Google Sans Flex"/>
              </a:defRPr>
            </a:pPr>
            <a:r>
              <a:t>Theme: Future of Work &amp; Enterprise Productivity</a:t>
            </a:r>
          </a:p>
          <a:p>
            <a:pPr>
              <a:spcAft>
                <a:spcPts val="900"/>
              </a:spcAft>
              <a:defRPr sz="1500" b="0">
                <a:latin typeface="Google Sans Flex"/>
              </a:defRPr>
            </a:pPr>
            <a:r>
              <a:t>Problem: Lost approvals, unresolved blockers and fragile handovers</a:t>
            </a: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sp>
        <p:nvSpPr>
          <p:cNvPr id="62" name="Google Shape;62;p14"/>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TextBox 62"/>
          <p:cNvSpPr txBox="1"/>
          <p:nvPr/>
        </p:nvSpPr>
        <p:spPr>
          <a:xfrm>
            <a:off x="548640" y="914400"/>
            <a:ext cx="8046720" cy="731520"/>
          </a:xfrm>
          <a:prstGeom prst="rect">
            <a:avLst/>
          </a:prstGeom>
          <a:noFill/>
        </p:spPr>
        <p:txBody>
          <a:bodyPr wrap="square" lIns="22860" rIns="22860" tIns="22860" bIns="22860">
            <a:spAutoFit/>
          </a:bodyPr>
          <a:lstStyle/>
          <a:p>
            <a:pPr>
              <a:spcAft>
                <a:spcPts val="700"/>
              </a:spcAft>
              <a:defRPr sz="2800" b="1">
                <a:solidFill>
                  <a:srgbClr val="FFFFFF"/>
                </a:solidFill>
                <a:latin typeface="Google Sans Flex"/>
              </a:defRPr>
            </a:pPr>
            <a:r>
              <a:t>Work waits when decisions get lost</a:t>
            </a:r>
          </a:p>
        </p:txBody>
      </p:sp>
      <p:sp>
        <p:nvSpPr>
          <p:cNvPr id="64" name="TextBox 63"/>
          <p:cNvSpPr txBox="1"/>
          <p:nvPr/>
        </p:nvSpPr>
        <p:spPr>
          <a:xfrm>
            <a:off x="594360" y="2011680"/>
            <a:ext cx="7863840" cy="1645920"/>
          </a:xfrm>
          <a:prstGeom prst="rect">
            <a:avLst/>
          </a:prstGeom>
          <a:noFill/>
        </p:spPr>
        <p:txBody>
          <a:bodyPr wrap="square" lIns="22860" rIns="22860" tIns="22860" bIns="22860">
            <a:spAutoFit/>
          </a:bodyPr>
          <a:lstStyle/>
          <a:p>
            <a:pPr>
              <a:spcAft>
                <a:spcPts val="700"/>
              </a:spcAft>
              <a:defRPr sz="2200" b="0">
                <a:solidFill>
                  <a:srgbClr val="FFFFFF"/>
                </a:solidFill>
                <a:latin typeface="Google Sans Flex"/>
              </a:defRPr>
            </a:pPr>
            <a:r>
              <a:t>An approval disappears in chat.</a:t>
            </a:r>
          </a:p>
          <a:p>
            <a:pPr>
              <a:spcAft>
                <a:spcPts val="700"/>
              </a:spcAft>
              <a:defRPr sz="2200" b="0">
                <a:solidFill>
                  <a:srgbClr val="FFFFFF"/>
                </a:solidFill>
                <a:latin typeface="Google Sans Flex"/>
              </a:defRPr>
            </a:pPr>
            <a:r>
              <a:t>A blocker holds up dependent work.</a:t>
            </a:r>
          </a:p>
          <a:p>
            <a:pPr>
              <a:spcAft>
                <a:spcPts val="700"/>
              </a:spcAft>
              <a:defRPr sz="2200" b="0">
                <a:solidFill>
                  <a:srgbClr val="FFFFFF"/>
                </a:solidFill>
                <a:latin typeface="Google Sans Flex"/>
              </a:defRPr>
            </a:pPr>
            <a:r>
              <a:t>An absence leaves critical context behind.</a:t>
            </a:r>
          </a:p>
        </p:txBody>
      </p:sp>
      <p:sp>
        <p:nvSpPr>
          <p:cNvPr id="65" name="TextBox 64"/>
          <p:cNvSpPr txBox="1"/>
          <p:nvPr/>
        </p:nvSpPr>
        <p:spPr>
          <a:xfrm>
            <a:off x="594360" y="4069080"/>
            <a:ext cx="7863840" cy="594360"/>
          </a:xfrm>
          <a:prstGeom prst="rect">
            <a:avLst/>
          </a:prstGeom>
          <a:noFill/>
        </p:spPr>
        <p:txBody>
          <a:bodyPr wrap="square" lIns="22860" rIns="22860" tIns="22860" bIns="22860">
            <a:spAutoFit/>
          </a:bodyPr>
          <a:lstStyle/>
          <a:p>
            <a:pPr>
              <a:spcAft>
                <a:spcPts val="700"/>
              </a:spcAft>
              <a:defRPr sz="1700" b="0">
                <a:solidFill>
                  <a:srgbClr val="A8C7FA"/>
                </a:solidFill>
                <a:latin typeface="Google Sans Flex"/>
              </a:defRPr>
            </a:pPr>
            <a:r>
              <a:t>TeamPulse connects each concern to an owner, evidence and the next action.</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943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1600">
                <a:solidFill>
                  <a:srgbClr val="171717"/>
                </a:solidFill>
                <a:latin typeface="Google Sans Flex Medium"/>
              </a:defRPr>
            </a:pPr>
            <a: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393192" y="1463040"/>
            <a:ext cx="8229600" cy="777240"/>
          </a:xfrm>
          <a:prstGeom prst="rect">
            <a:avLst/>
          </a:prstGeom>
          <a:noFill/>
        </p:spPr>
        <p:txBody>
          <a:bodyPr wrap="square" lIns="22860" rIns="22860" tIns="22860" bIns="22860">
            <a:spAutoFit/>
          </a:bodyPr>
          <a:lstStyle/>
          <a:p>
            <a:pPr>
              <a:spcAft>
                <a:spcPts val="700"/>
              </a:spcAft>
              <a:defRPr sz="2200" b="1">
                <a:solidFill>
                  <a:srgbClr val="171717"/>
                </a:solidFill>
                <a:latin typeface="Google Sans Flex"/>
              </a:defRPr>
            </a:pPr>
            <a:r>
              <a:t>TeamPulse AI helps engineering managers coordinate delivery and support engineers.</a:t>
            </a:r>
          </a:p>
        </p:txBody>
      </p:sp>
      <p:sp>
        <p:nvSpPr>
          <p:cNvPr id="73" name="TextBox 72"/>
          <p:cNvSpPr txBox="1"/>
          <p:nvPr/>
        </p:nvSpPr>
        <p:spPr>
          <a:xfrm>
            <a:off x="393192" y="2423160"/>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Attention</a:t>
            </a:r>
          </a:p>
        </p:txBody>
      </p:sp>
      <p:sp>
        <p:nvSpPr>
          <p:cNvPr id="74" name="TextBox 73"/>
          <p:cNvSpPr txBox="1"/>
          <p:nvPr/>
        </p:nvSpPr>
        <p:spPr>
          <a:xfrm>
            <a:off x="2606040" y="2423160"/>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A ranked inbox surfaces decisions, approvals and support requests.</a:t>
            </a:r>
          </a:p>
        </p:txBody>
      </p:sp>
      <p:sp>
        <p:nvSpPr>
          <p:cNvPr id="75" name="TextBox 74"/>
          <p:cNvSpPr txBox="1"/>
          <p:nvPr/>
        </p:nvSpPr>
        <p:spPr>
          <a:xfrm>
            <a:off x="393192" y="3136391"/>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Knowledge</a:t>
            </a:r>
          </a:p>
        </p:txBody>
      </p:sp>
      <p:sp>
        <p:nvSpPr>
          <p:cNvPr id="76" name="TextBox 75"/>
          <p:cNvSpPr txBox="1"/>
          <p:nvPr/>
        </p:nvSpPr>
        <p:spPr>
          <a:xfrm>
            <a:off x="2606040" y="3136391"/>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Project records, dependencies and documents become an evidence-linked handover brief.</a:t>
            </a:r>
          </a:p>
        </p:txBody>
      </p:sp>
      <p:sp>
        <p:nvSpPr>
          <p:cNvPr id="77" name="TextBox 76"/>
          <p:cNvSpPr txBox="1"/>
          <p:nvPr/>
        </p:nvSpPr>
        <p:spPr>
          <a:xfrm>
            <a:off x="393192" y="3849624"/>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Execution</a:t>
            </a:r>
          </a:p>
        </p:txBody>
      </p:sp>
      <p:sp>
        <p:nvSpPr>
          <p:cNvPr id="78" name="TextBox 77"/>
          <p:cNvSpPr txBox="1"/>
          <p:nvPr/>
        </p:nvSpPr>
        <p:spPr>
          <a:xfrm>
            <a:off x="2606040" y="3849624"/>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Managers approve coverage; the backup accepts before task ownership changes.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5943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1600">
                <a:solidFill>
                  <a:srgbClr val="171717"/>
                </a:solidFill>
                <a:latin typeface="Google Sans Flex Medium"/>
              </a:defRPr>
            </a:pPr>
            <a:r>
              <a:t>Opportunities</a:t>
            </a:r>
            <a:endParaRPr sz="1600">
              <a:latin typeface="Google Sans Flex SemiBold"/>
              <a:ea typeface="Google Sans Flex SemiBold"/>
              <a:cs typeface="Google Sans Flex SemiBold"/>
              <a:sym typeface="Google Sans Flex SemiBold"/>
            </a:endParaRPr>
          </a:p>
        </p:txBody>
      </p:sp>
      <p:sp>
        <p:nvSpPr>
          <p:cNvPr id="80" name="TextBox 79"/>
          <p:cNvSpPr txBox="1"/>
          <p:nvPr/>
        </p:nvSpPr>
        <p:spPr>
          <a:xfrm>
            <a:off x="393192" y="1463040"/>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Difference</a:t>
            </a:r>
          </a:p>
        </p:txBody>
      </p:sp>
      <p:sp>
        <p:nvSpPr>
          <p:cNvPr id="81" name="TextBox 80"/>
          <p:cNvSpPr txBox="1"/>
          <p:nvPr/>
        </p:nvSpPr>
        <p:spPr>
          <a:xfrm>
            <a:off x="2606040" y="1463040"/>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Decisions, support requests and handovers share one tracked workflow.</a:t>
            </a:r>
          </a:p>
        </p:txBody>
      </p:sp>
      <p:sp>
        <p:nvSpPr>
          <p:cNvPr id="82" name="TextBox 81"/>
          <p:cNvSpPr txBox="1"/>
          <p:nvPr/>
        </p:nvSpPr>
        <p:spPr>
          <a:xfrm>
            <a:off x="393192" y="2249424"/>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Problem solved</a:t>
            </a:r>
          </a:p>
        </p:txBody>
      </p:sp>
      <p:sp>
        <p:nvSpPr>
          <p:cNvPr id="83" name="TextBox 82"/>
          <p:cNvSpPr txBox="1"/>
          <p:nvPr/>
        </p:nvSpPr>
        <p:spPr>
          <a:xfrm>
            <a:off x="2606040" y="2249424"/>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Unresolved work stays visible after notifications are read.</a:t>
            </a:r>
          </a:p>
        </p:txBody>
      </p:sp>
      <p:sp>
        <p:nvSpPr>
          <p:cNvPr id="84" name="TextBox 83"/>
          <p:cNvSpPr txBox="1"/>
          <p:nvPr/>
        </p:nvSpPr>
        <p:spPr>
          <a:xfrm>
            <a:off x="393192" y="3035808"/>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Distinctive value</a:t>
            </a:r>
          </a:p>
        </p:txBody>
      </p:sp>
      <p:sp>
        <p:nvSpPr>
          <p:cNvPr id="85" name="TextBox 84"/>
          <p:cNvSpPr txBox="1"/>
          <p:nvPr/>
        </p:nvSpPr>
        <p:spPr>
          <a:xfrm>
            <a:off x="2606040" y="3035808"/>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Backup eligibility is checked before ranking and again at approval and acceptance.</a:t>
            </a:r>
          </a:p>
        </p:txBody>
      </p:sp>
      <p:sp>
        <p:nvSpPr>
          <p:cNvPr id="86" name="TextBox 85"/>
          <p:cNvSpPr txBox="1"/>
          <p:nvPr/>
        </p:nvSpPr>
        <p:spPr>
          <a:xfrm>
            <a:off x="393192" y="3822191"/>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Human control</a:t>
            </a:r>
          </a:p>
        </p:txBody>
      </p:sp>
      <p:sp>
        <p:nvSpPr>
          <p:cNvPr id="87" name="TextBox 86"/>
          <p:cNvSpPr txBox="1"/>
          <p:nvPr/>
        </p:nvSpPr>
        <p:spPr>
          <a:xfrm>
            <a:off x="2606040" y="3822191"/>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Rules determine risk and priority. Gemini explains evidence; people approve assignments.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943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1600">
                <a:solidFill>
                  <a:srgbClr val="171717"/>
                </a:solidFill>
                <a:latin typeface="Google Sans Flex Medium"/>
              </a:defRPr>
            </a:pPr>
            <a:r>
              <a:t>List of features offered by the solution</a:t>
            </a:r>
            <a:endParaRPr sz="1600">
              <a:latin typeface="Google Sans Flex Medium"/>
              <a:ea typeface="Google Sans Flex Medium"/>
              <a:cs typeface="Google Sans Flex Medium"/>
              <a:sym typeface="Google Sans Flex Medium"/>
            </a:endParaRPr>
          </a:p>
        </p:txBody>
      </p:sp>
      <p:sp>
        <p:nvSpPr>
          <p:cNvPr id="88" name="TextBox 87"/>
          <p:cNvSpPr txBox="1"/>
          <p:nvPr/>
        </p:nvSpPr>
        <p:spPr>
          <a:xfrm>
            <a:off x="393192" y="1371600"/>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Manager overview</a:t>
            </a:r>
          </a:p>
        </p:txBody>
      </p:sp>
      <p:sp>
        <p:nvSpPr>
          <p:cNvPr id="89" name="TextBox 88"/>
          <p:cNvSpPr txBox="1"/>
          <p:nvPr/>
        </p:nvSpPr>
        <p:spPr>
          <a:xfrm>
            <a:off x="2606040" y="1371600"/>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Project health, ranked actions and linked risk evidence.</a:t>
            </a:r>
          </a:p>
        </p:txBody>
      </p:sp>
      <p:sp>
        <p:nvSpPr>
          <p:cNvPr id="90" name="TextBox 89"/>
          <p:cNvSpPr txBox="1"/>
          <p:nvPr/>
        </p:nvSpPr>
        <p:spPr>
          <a:xfrm>
            <a:off x="393192" y="2029967"/>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Engineer support</a:t>
            </a:r>
          </a:p>
        </p:txBody>
      </p:sp>
      <p:sp>
        <p:nvSpPr>
          <p:cNvPr id="91" name="TextBox 90"/>
          <p:cNvSpPr txBox="1"/>
          <p:nvPr/>
        </p:nvSpPr>
        <p:spPr>
          <a:xfrm>
            <a:off x="2606040" y="2029967"/>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Blockers, approvals, progress updates and visible responses.</a:t>
            </a:r>
          </a:p>
        </p:txBody>
      </p:sp>
      <p:sp>
        <p:nvSpPr>
          <p:cNvPr id="92" name="TextBox 91"/>
          <p:cNvSpPr txBox="1"/>
          <p:nvPr/>
        </p:nvSpPr>
        <p:spPr>
          <a:xfrm>
            <a:off x="393192" y="2688336"/>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Continuity</a:t>
            </a:r>
          </a:p>
        </p:txBody>
      </p:sp>
      <p:sp>
        <p:nvSpPr>
          <p:cNvPr id="93" name="TextBox 92"/>
          <p:cNvSpPr txBox="1"/>
          <p:nvPr/>
        </p:nvSpPr>
        <p:spPr>
          <a:xfrm>
            <a:off x="2606040" y="2688336"/>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Dependency impact, backup ranking and eleven-section handover briefs.</a:t>
            </a:r>
          </a:p>
        </p:txBody>
      </p:sp>
      <p:sp>
        <p:nvSpPr>
          <p:cNvPr id="94" name="TextBox 93"/>
          <p:cNvSpPr txBox="1"/>
          <p:nvPr/>
        </p:nvSpPr>
        <p:spPr>
          <a:xfrm>
            <a:off x="393192" y="3346704"/>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Accountability</a:t>
            </a:r>
          </a:p>
        </p:txBody>
      </p:sp>
      <p:sp>
        <p:nvSpPr>
          <p:cNvPr id="95" name="TextBox 94"/>
          <p:cNvSpPr txBox="1"/>
          <p:nvPr/>
        </p:nvSpPr>
        <p:spPr>
          <a:xfrm>
            <a:off x="2606040" y="3346704"/>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Notifications, audit history and two human decisions before reassignment.</a:t>
            </a:r>
          </a:p>
        </p:txBody>
      </p:sp>
      <p:sp>
        <p:nvSpPr>
          <p:cNvPr id="96" name="TextBox 95"/>
          <p:cNvSpPr txBox="1"/>
          <p:nvPr/>
        </p:nvSpPr>
        <p:spPr>
          <a:xfrm>
            <a:off x="393192" y="4005072"/>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AI assistance</a:t>
            </a:r>
          </a:p>
        </p:txBody>
      </p:sp>
      <p:sp>
        <p:nvSpPr>
          <p:cNvPr id="97" name="TextBox 96"/>
          <p:cNvSpPr txBox="1"/>
          <p:nvPr/>
        </p:nvSpPr>
        <p:spPr>
          <a:xfrm>
            <a:off x="2606040" y="4005072"/>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Project summaries, request interpretation, handover briefs and risk explanations.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943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1600">
                <a:solidFill>
                  <a:srgbClr val="171717"/>
                </a:solidFill>
                <a:latin typeface="Google Sans Flex Medium"/>
              </a:defRPr>
            </a:pPr>
            <a:r>
              <a:t>Process flow: engineer absence to approved coverage</a:t>
            </a:r>
            <a:endParaRPr sz="1600">
              <a:latin typeface="Google Sans Flex Medium"/>
              <a:ea typeface="Google Sans Flex Medium"/>
              <a:cs typeface="Google Sans Flex Medium"/>
              <a:sym typeface="Google Sans Flex Medium"/>
            </a:endParaRPr>
          </a:p>
        </p:txBody>
      </p:sp>
      <p:sp>
        <p:nvSpPr>
          <p:cNvPr id="96" name="Rounded Rectangle 95"/>
          <p:cNvSpPr/>
          <p:nvPr/>
        </p:nvSpPr>
        <p:spPr>
          <a:xfrm>
            <a:off x="411480" y="1600200"/>
            <a:ext cx="2468880" cy="777240"/>
          </a:xfrm>
          <a:prstGeom prst="roundRect">
            <a:avLst/>
          </a:prstGeom>
          <a:solidFill>
            <a:srgbClr val="F1F5FA"/>
          </a:solidFill>
          <a:ln>
            <a:solidFill>
              <a:srgbClr val="B5C5D9"/>
            </a:solidFill>
          </a:ln>
        </p:spPr>
        <p:style>
          <a:lnRef idx="1">
            <a:schemeClr val="accent1"/>
          </a:lnRef>
          <a:fillRef idx="3">
            <a:schemeClr val="accent1"/>
          </a:fillRef>
          <a:effectRef idx="2">
            <a:schemeClr val="accent1"/>
          </a:effectRef>
          <a:fontRef idx="minor">
            <a:schemeClr val="lt1"/>
          </a:fontRef>
        </p:style>
        <p:txBody>
          <a:bodyPr rtlCol="0" anchor="ctr" wrap="square" tIns="73152" lIns="64008" rIns="64008"/>
          <a:lstStyle/>
          <a:p>
            <a:pPr algn="ctr">
              <a:defRPr sz="1300">
                <a:solidFill>
                  <a:srgbClr val="171717"/>
                </a:solidFill>
                <a:latin typeface="Google Sans Flex"/>
              </a:defRPr>
            </a:pPr>
            <a:r>
              <a:t>1  Engineer records</a:t>
            </a:r>
            <a:br/>
            <a:r>
              <a:t>unavailability</a:t>
            </a:r>
          </a:p>
        </p:txBody>
      </p:sp>
      <p:sp>
        <p:nvSpPr>
          <p:cNvPr id="97" name="Rounded Rectangle 96"/>
          <p:cNvSpPr/>
          <p:nvPr/>
        </p:nvSpPr>
        <p:spPr>
          <a:xfrm>
            <a:off x="3337560" y="1600200"/>
            <a:ext cx="2468880" cy="777240"/>
          </a:xfrm>
          <a:prstGeom prst="roundRect">
            <a:avLst/>
          </a:prstGeom>
          <a:solidFill>
            <a:srgbClr val="F1F5FA"/>
          </a:solidFill>
          <a:ln>
            <a:solidFill>
              <a:srgbClr val="B5C5D9"/>
            </a:solidFill>
          </a:ln>
        </p:spPr>
        <p:style>
          <a:lnRef idx="1">
            <a:schemeClr val="accent1"/>
          </a:lnRef>
          <a:fillRef idx="3">
            <a:schemeClr val="accent1"/>
          </a:fillRef>
          <a:effectRef idx="2">
            <a:schemeClr val="accent1"/>
          </a:effectRef>
          <a:fontRef idx="minor">
            <a:schemeClr val="lt1"/>
          </a:fontRef>
        </p:style>
        <p:txBody>
          <a:bodyPr rtlCol="0" anchor="ctr" wrap="square" tIns="73152" lIns="64008" rIns="64008"/>
          <a:lstStyle/>
          <a:p>
            <a:pPr algn="ctr">
              <a:defRPr sz="1300">
                <a:solidFill>
                  <a:srgbClr val="171717"/>
                </a:solidFill>
                <a:latin typeface="Google Sans Flex"/>
              </a:defRPr>
            </a:pPr>
            <a:r>
              <a:t>2  Rules map tasks</a:t>
            </a:r>
            <a:br/>
            <a:r>
              <a:t>and dependencies</a:t>
            </a:r>
          </a:p>
        </p:txBody>
      </p:sp>
      <p:sp>
        <p:nvSpPr>
          <p:cNvPr id="98" name="Rounded Rectangle 97"/>
          <p:cNvSpPr/>
          <p:nvPr/>
        </p:nvSpPr>
        <p:spPr>
          <a:xfrm>
            <a:off x="6263640" y="1600200"/>
            <a:ext cx="2468880" cy="777240"/>
          </a:xfrm>
          <a:prstGeom prst="roundRect">
            <a:avLst/>
          </a:prstGeom>
          <a:solidFill>
            <a:srgbClr val="F1F5FA"/>
          </a:solidFill>
          <a:ln>
            <a:solidFill>
              <a:srgbClr val="B5C5D9"/>
            </a:solidFill>
          </a:ln>
        </p:spPr>
        <p:style>
          <a:lnRef idx="1">
            <a:schemeClr val="accent1"/>
          </a:lnRef>
          <a:fillRef idx="3">
            <a:schemeClr val="accent1"/>
          </a:fillRef>
          <a:effectRef idx="2">
            <a:schemeClr val="accent1"/>
          </a:effectRef>
          <a:fontRef idx="minor">
            <a:schemeClr val="lt1"/>
          </a:fontRef>
        </p:style>
        <p:txBody>
          <a:bodyPr rtlCol="0" anchor="ctr" wrap="square" tIns="73152" lIns="64008" rIns="64008"/>
          <a:lstStyle/>
          <a:p>
            <a:pPr algn="ctr">
              <a:defRPr sz="1300">
                <a:solidFill>
                  <a:srgbClr val="171717"/>
                </a:solidFill>
                <a:latin typeface="Google Sans Flex"/>
              </a:defRPr>
            </a:pPr>
            <a:r>
              <a:t>3  Eligible backups</a:t>
            </a:r>
            <a:br/>
            <a:r>
              <a:t>are ranked</a:t>
            </a:r>
          </a:p>
        </p:txBody>
      </p:sp>
      <p:cxnSp>
        <p:nvCxnSpPr>
          <p:cNvPr id="99" name="Connector 98"/>
          <p:cNvCxnSpPr/>
          <p:nvPr/>
        </p:nvCxnSpPr>
        <p:spPr>
          <a:xfrm>
            <a:off x="2880360" y="1993392"/>
            <a:ext cx="457200" cy="0"/>
          </a:xfrm>
          <a:prstGeom prst="line">
            <a:avLst/>
          </a:prstGeom>
          <a:ln w="22860">
            <a:solidFill>
              <a:srgbClr val="1967D2"/>
            </a:solidFill>
            <a:tailEnd type="triangle"/>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5806440" y="1993392"/>
            <a:ext cx="457200" cy="0"/>
          </a:xfrm>
          <a:prstGeom prst="line">
            <a:avLst/>
          </a:prstGeom>
          <a:ln w="22860">
            <a:solidFill>
              <a:srgbClr val="1967D2"/>
            </a:solidFill>
            <a:tailEnd type="triangle"/>
          </a:ln>
        </p:spPr>
        <p:style>
          <a:lnRef idx="2">
            <a:schemeClr val="accent1"/>
          </a:lnRef>
          <a:fillRef idx="0">
            <a:schemeClr val="accent1"/>
          </a:fillRef>
          <a:effectRef idx="1">
            <a:schemeClr val="accent1"/>
          </a:effectRef>
          <a:fontRef idx="minor">
            <a:schemeClr val="tx1"/>
          </a:fontRef>
        </p:style>
      </p:cxnSp>
      <p:sp>
        <p:nvSpPr>
          <p:cNvPr id="101" name="Rounded Rectangle 100"/>
          <p:cNvSpPr/>
          <p:nvPr/>
        </p:nvSpPr>
        <p:spPr>
          <a:xfrm>
            <a:off x="411480" y="3108960"/>
            <a:ext cx="2468880" cy="777240"/>
          </a:xfrm>
          <a:prstGeom prst="roundRect">
            <a:avLst/>
          </a:prstGeom>
          <a:solidFill>
            <a:srgbClr val="E6F4EA"/>
          </a:solidFill>
          <a:ln>
            <a:solidFill>
              <a:srgbClr val="B5C5D9"/>
            </a:solidFill>
          </a:ln>
        </p:spPr>
        <p:style>
          <a:lnRef idx="1">
            <a:schemeClr val="accent1"/>
          </a:lnRef>
          <a:fillRef idx="3">
            <a:schemeClr val="accent1"/>
          </a:fillRef>
          <a:effectRef idx="2">
            <a:schemeClr val="accent1"/>
          </a:effectRef>
          <a:fontRef idx="minor">
            <a:schemeClr val="lt1"/>
          </a:fontRef>
        </p:style>
        <p:txBody>
          <a:bodyPr rtlCol="0" anchor="ctr" wrap="square" tIns="73152" lIns="64008" rIns="64008"/>
          <a:lstStyle/>
          <a:p>
            <a:pPr algn="ctr">
              <a:defRPr sz="1300">
                <a:solidFill>
                  <a:srgbClr val="171717"/>
                </a:solidFill>
                <a:latin typeface="Google Sans Flex"/>
              </a:defRPr>
            </a:pPr>
            <a:r>
              <a:t>6  Backup accepts;</a:t>
            </a:r>
            <a:br/>
            <a:r>
              <a:t>ownership transfers</a:t>
            </a:r>
          </a:p>
        </p:txBody>
      </p:sp>
      <p:sp>
        <p:nvSpPr>
          <p:cNvPr id="102" name="Rounded Rectangle 101"/>
          <p:cNvSpPr/>
          <p:nvPr/>
        </p:nvSpPr>
        <p:spPr>
          <a:xfrm>
            <a:off x="3337560" y="3108960"/>
            <a:ext cx="2468880" cy="777240"/>
          </a:xfrm>
          <a:prstGeom prst="roundRect">
            <a:avLst/>
          </a:prstGeom>
          <a:solidFill>
            <a:srgbClr val="E6F4EA"/>
          </a:solidFill>
          <a:ln>
            <a:solidFill>
              <a:srgbClr val="B5C5D9"/>
            </a:solidFill>
          </a:ln>
        </p:spPr>
        <p:style>
          <a:lnRef idx="1">
            <a:schemeClr val="accent1"/>
          </a:lnRef>
          <a:fillRef idx="3">
            <a:schemeClr val="accent1"/>
          </a:fillRef>
          <a:effectRef idx="2">
            <a:schemeClr val="accent1"/>
          </a:effectRef>
          <a:fontRef idx="minor">
            <a:schemeClr val="lt1"/>
          </a:fontRef>
        </p:style>
        <p:txBody>
          <a:bodyPr rtlCol="0" anchor="ctr" wrap="square" tIns="73152" lIns="64008" rIns="64008"/>
          <a:lstStyle/>
          <a:p>
            <a:pPr algn="ctr">
              <a:defRPr sz="1300">
                <a:solidFill>
                  <a:srgbClr val="171717"/>
                </a:solidFill>
                <a:latin typeface="Google Sans Flex"/>
              </a:defRPr>
            </a:pPr>
            <a:r>
              <a:t>5  Manager selects</a:t>
            </a:r>
            <a:br/>
            <a:r>
              <a:t>and approves</a:t>
            </a:r>
          </a:p>
        </p:txBody>
      </p:sp>
      <p:sp>
        <p:nvSpPr>
          <p:cNvPr id="103" name="Rounded Rectangle 102"/>
          <p:cNvSpPr/>
          <p:nvPr/>
        </p:nvSpPr>
        <p:spPr>
          <a:xfrm>
            <a:off x="6263640" y="3108960"/>
            <a:ext cx="2468880" cy="777240"/>
          </a:xfrm>
          <a:prstGeom prst="roundRect">
            <a:avLst/>
          </a:prstGeom>
          <a:solidFill>
            <a:srgbClr val="F1F5FA"/>
          </a:solidFill>
          <a:ln>
            <a:solidFill>
              <a:srgbClr val="B5C5D9"/>
            </a:solidFill>
          </a:ln>
        </p:spPr>
        <p:style>
          <a:lnRef idx="1">
            <a:schemeClr val="accent1"/>
          </a:lnRef>
          <a:fillRef idx="3">
            <a:schemeClr val="accent1"/>
          </a:fillRef>
          <a:effectRef idx="2">
            <a:schemeClr val="accent1"/>
          </a:effectRef>
          <a:fontRef idx="minor">
            <a:schemeClr val="lt1"/>
          </a:fontRef>
        </p:style>
        <p:txBody>
          <a:bodyPr rtlCol="0" anchor="ctr" wrap="square" tIns="73152" lIns="64008" rIns="64008"/>
          <a:lstStyle/>
          <a:p>
            <a:pPr algn="ctr">
              <a:defRPr sz="1300">
                <a:solidFill>
                  <a:srgbClr val="171717"/>
                </a:solidFill>
                <a:latin typeface="Google Sans Flex"/>
              </a:defRPr>
            </a:pPr>
            <a:r>
              <a:t>4  Brief cites records</a:t>
            </a:r>
            <a:br/>
            <a:r>
              <a:t>and flags gaps</a:t>
            </a:r>
          </a:p>
        </p:txBody>
      </p:sp>
      <p:cxnSp>
        <p:nvCxnSpPr>
          <p:cNvPr id="104" name="Connector 103"/>
          <p:cNvCxnSpPr/>
          <p:nvPr/>
        </p:nvCxnSpPr>
        <p:spPr>
          <a:xfrm>
            <a:off x="7498079" y="2377440"/>
            <a:ext cx="0" cy="731520"/>
          </a:xfrm>
          <a:prstGeom prst="line">
            <a:avLst/>
          </a:prstGeom>
          <a:ln w="22860">
            <a:solidFill>
              <a:srgbClr val="1967D2"/>
            </a:solidFill>
            <a:tailEnd type="triangle"/>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a:off x="5806440" y="3502152"/>
            <a:ext cx="457200" cy="0"/>
          </a:xfrm>
          <a:prstGeom prst="line">
            <a:avLst/>
          </a:prstGeom>
          <a:ln w="22860">
            <a:solidFill>
              <a:srgbClr val="1967D2"/>
            </a:solidFill>
            <a:tailEnd type="triangle"/>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a:off x="2880360" y="3502152"/>
            <a:ext cx="457200" cy="0"/>
          </a:xfrm>
          <a:prstGeom prst="line">
            <a:avLst/>
          </a:prstGeom>
          <a:ln w="22860">
            <a:solidFill>
              <a:srgbClr val="1967D2"/>
            </a:solidFill>
            <a:tailEnd type="triangle"/>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594360" y="4251960"/>
            <a:ext cx="7955279" cy="411480"/>
          </a:xfrm>
          <a:prstGeom prst="rect">
            <a:avLst/>
          </a:prstGeom>
          <a:noFill/>
        </p:spPr>
        <p:txBody>
          <a:bodyPr wrap="square" lIns="22860" rIns="22860" tIns="22860" bIns="22860">
            <a:spAutoFit/>
          </a:bodyPr>
          <a:lstStyle/>
          <a:p>
            <a:pPr>
              <a:spcAft>
                <a:spcPts val="700"/>
              </a:spcAft>
              <a:defRPr sz="1600" b="1">
                <a:solidFill>
                  <a:srgbClr val="171717"/>
                </a:solidFill>
                <a:latin typeface="Google Sans Flex"/>
              </a:defRPr>
            </a:pPr>
            <a:r>
              <a:t>An AI recommendation alone never changes task ownership.</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943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1600">
                <a:solidFill>
                  <a:srgbClr val="171717"/>
                </a:solidFill>
                <a:latin typeface="Google Sans Flex Medium"/>
              </a:defRPr>
            </a:pPr>
            <a:r>
              <a:t>Interface: the running manager dashboard</a:t>
            </a:r>
            <a:endParaRPr sz="1600">
              <a:latin typeface="Google Sans Flex Medium"/>
              <a:ea typeface="Google Sans Flex Medium"/>
              <a:cs typeface="Google Sans Flex Medium"/>
              <a:sym typeface="Google Sans Flex Medium"/>
            </a:endParaRPr>
          </a:p>
        </p:txBody>
      </p:sp>
      <p:pic>
        <p:nvPicPr>
          <p:cNvPr id="104" name="Picture 103" descr="01-manager-overview.png"/>
          <p:cNvPicPr>
            <a:picLocks noChangeAspect="1"/>
          </p:cNvPicPr>
          <p:nvPr/>
        </p:nvPicPr>
        <p:blipFill>
          <a:blip r:embed="rId5"/>
          <a:srcRect b="34537"/>
          <a:stretch>
            <a:fillRect/>
          </a:stretch>
        </p:blipFill>
        <p:spPr>
          <a:xfrm>
            <a:off x="566928" y="1353312"/>
            <a:ext cx="8001000" cy="3273552"/>
          </a:xfrm>
          <a:prstGeom prst="rect">
            <a:avLst/>
          </a:prstGeom>
        </p:spPr>
      </p:pic>
      <p:sp>
        <p:nvSpPr>
          <p:cNvPr id="105" name="TextBox 104"/>
          <p:cNvSpPr txBox="1"/>
          <p:nvPr/>
        </p:nvSpPr>
        <p:spPr>
          <a:xfrm>
            <a:off x="594360" y="4690872"/>
            <a:ext cx="8046720" cy="292608"/>
          </a:xfrm>
          <a:prstGeom prst="rect">
            <a:avLst/>
          </a:prstGeom>
          <a:noFill/>
        </p:spPr>
        <p:txBody>
          <a:bodyPr wrap="square" lIns="22860" rIns="22860" tIns="22860" bIns="22860">
            <a:spAutoFit/>
          </a:bodyPr>
          <a:lstStyle/>
          <a:p>
            <a:pPr>
              <a:spcAft>
                <a:spcPts val="700"/>
              </a:spcAft>
              <a:defRPr sz="1100" b="0">
                <a:solidFill>
                  <a:srgbClr val="555555"/>
                </a:solidFill>
                <a:latin typeface="Google Sans Flex"/>
              </a:defRPr>
            </a:pPr>
            <a:r>
              <a:t>Actual local prototype · synthetic data · AI fallback labelled in the interface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943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1600">
                <a:solidFill>
                  <a:srgbClr val="171717"/>
                </a:solidFill>
                <a:latin typeface="Google Sans Flex Medium"/>
              </a:defRPr>
            </a:pPr>
            <a:r>
              <a:t>Architecture diagram of the solution</a:t>
            </a:r>
            <a:endParaRPr sz="1600">
              <a:latin typeface="Google Sans Flex Medium"/>
              <a:ea typeface="Google Sans Flex Medium"/>
              <a:cs typeface="Google Sans Flex Medium"/>
              <a:sym typeface="Google Sans Flex Medium"/>
            </a:endParaRPr>
          </a:p>
        </p:txBody>
      </p:sp>
      <p:sp>
        <p:nvSpPr>
          <p:cNvPr id="112" name="Rounded Rectangle 111"/>
          <p:cNvSpPr/>
          <p:nvPr/>
        </p:nvSpPr>
        <p:spPr>
          <a:xfrm>
            <a:off x="457200" y="1508760"/>
            <a:ext cx="2926080" cy="777240"/>
          </a:xfrm>
          <a:prstGeom prst="roundRect">
            <a:avLst/>
          </a:prstGeom>
          <a:solidFill>
            <a:srgbClr val="F1F5FA"/>
          </a:solidFill>
          <a:ln>
            <a:solidFill>
              <a:srgbClr val="B5C5D9"/>
            </a:solidFill>
          </a:ln>
        </p:spPr>
        <p:style>
          <a:lnRef idx="1">
            <a:schemeClr val="accent1"/>
          </a:lnRef>
          <a:fillRef idx="3">
            <a:schemeClr val="accent1"/>
          </a:fillRef>
          <a:effectRef idx="2">
            <a:schemeClr val="accent1"/>
          </a:effectRef>
          <a:fontRef idx="minor">
            <a:schemeClr val="lt1"/>
          </a:fontRef>
        </p:style>
        <p:txBody>
          <a:bodyPr rtlCol="0" anchor="ctr" wrap="square" tIns="73152" lIns="64008" rIns="64008"/>
          <a:lstStyle/>
          <a:p>
            <a:pPr algn="ctr">
              <a:defRPr sz="1300">
                <a:solidFill>
                  <a:srgbClr val="171717"/>
                </a:solidFill>
                <a:latin typeface="Google Sans Flex"/>
              </a:defRPr>
            </a:pPr>
            <a:r>
              <a:t>React + TypeScript</a:t>
            </a:r>
            <a:br/>
            <a:r>
              <a:t>Manager and engineer UI</a:t>
            </a:r>
          </a:p>
        </p:txBody>
      </p:sp>
      <p:sp>
        <p:nvSpPr>
          <p:cNvPr id="113" name="Rounded Rectangle 112"/>
          <p:cNvSpPr/>
          <p:nvPr/>
        </p:nvSpPr>
        <p:spPr>
          <a:xfrm>
            <a:off x="4754880" y="1508760"/>
            <a:ext cx="3931920" cy="777240"/>
          </a:xfrm>
          <a:prstGeom prst="roundRect">
            <a:avLst/>
          </a:prstGeom>
          <a:solidFill>
            <a:srgbClr val="F1F5FA"/>
          </a:solidFill>
          <a:ln>
            <a:solidFill>
              <a:srgbClr val="B5C5D9"/>
            </a:solidFill>
          </a:ln>
        </p:spPr>
        <p:style>
          <a:lnRef idx="1">
            <a:schemeClr val="accent1"/>
          </a:lnRef>
          <a:fillRef idx="3">
            <a:schemeClr val="accent1"/>
          </a:fillRef>
          <a:effectRef idx="2">
            <a:schemeClr val="accent1"/>
          </a:effectRef>
          <a:fontRef idx="minor">
            <a:schemeClr val="lt1"/>
          </a:fontRef>
        </p:style>
        <p:txBody>
          <a:bodyPr rtlCol="0" anchor="ctr" wrap="square" tIns="73152" lIns="64008" rIns="64008"/>
          <a:lstStyle/>
          <a:p>
            <a:pPr algn="ctr">
              <a:defRPr sz="1300">
                <a:solidFill>
                  <a:srgbClr val="171717"/>
                </a:solidFill>
                <a:latin typeface="Google Sans Flex"/>
              </a:defRPr>
            </a:pPr>
            <a:r>
              <a:t>FastAPI application</a:t>
            </a:r>
            <a:br/>
            <a:r>
              <a:t>Authorization + workflows</a:t>
            </a:r>
          </a:p>
        </p:txBody>
      </p:sp>
      <p:cxnSp>
        <p:nvCxnSpPr>
          <p:cNvPr id="114" name="Connector 113"/>
          <p:cNvCxnSpPr/>
          <p:nvPr/>
        </p:nvCxnSpPr>
        <p:spPr>
          <a:xfrm>
            <a:off x="3383280" y="1901952"/>
            <a:ext cx="1371600" cy="0"/>
          </a:xfrm>
          <a:prstGeom prst="line">
            <a:avLst/>
          </a:prstGeom>
          <a:ln w="22860">
            <a:solidFill>
              <a:srgbClr val="1967D2"/>
            </a:solidFill>
            <a:tailEnd type="triangle"/>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3474720" y="1554480"/>
            <a:ext cx="1188720" cy="320040"/>
          </a:xfrm>
          <a:prstGeom prst="rect">
            <a:avLst/>
          </a:prstGeom>
          <a:noFill/>
        </p:spPr>
        <p:txBody>
          <a:bodyPr wrap="square" lIns="22860" rIns="22860" tIns="22860" bIns="22860">
            <a:spAutoFit/>
          </a:bodyPr>
          <a:lstStyle/>
          <a:p>
            <a:pPr>
              <a:spcAft>
                <a:spcPts val="700"/>
              </a:spcAft>
              <a:defRPr sz="1100" b="0">
                <a:solidFill>
                  <a:srgbClr val="555555"/>
                </a:solidFill>
                <a:latin typeface="Google Sans Flex"/>
              </a:defRPr>
            </a:pPr>
            <a:r>
              <a:t>HTTP / JSON</a:t>
            </a:r>
          </a:p>
        </p:txBody>
      </p:sp>
      <p:sp>
        <p:nvSpPr>
          <p:cNvPr id="116" name="Rounded Rectangle 115"/>
          <p:cNvSpPr/>
          <p:nvPr/>
        </p:nvSpPr>
        <p:spPr>
          <a:xfrm>
            <a:off x="457200" y="2971800"/>
            <a:ext cx="2606040" cy="914400"/>
          </a:xfrm>
          <a:prstGeom prst="roundRect">
            <a:avLst/>
          </a:prstGeom>
          <a:solidFill>
            <a:srgbClr val="F1F5FA"/>
          </a:solidFill>
          <a:ln>
            <a:solidFill>
              <a:srgbClr val="B5C5D9"/>
            </a:solidFill>
          </a:ln>
        </p:spPr>
        <p:style>
          <a:lnRef idx="1">
            <a:schemeClr val="accent1"/>
          </a:lnRef>
          <a:fillRef idx="3">
            <a:schemeClr val="accent1"/>
          </a:fillRef>
          <a:effectRef idx="2">
            <a:schemeClr val="accent1"/>
          </a:effectRef>
          <a:fontRef idx="minor">
            <a:schemeClr val="lt1"/>
          </a:fontRef>
        </p:style>
        <p:txBody>
          <a:bodyPr rtlCol="0" anchor="ctr" wrap="square" tIns="73152" lIns="64008" rIns="64008"/>
          <a:lstStyle/>
          <a:p>
            <a:pPr algn="ctr">
              <a:defRPr sz="1300">
                <a:solidFill>
                  <a:srgbClr val="171717"/>
                </a:solidFill>
                <a:latin typeface="Google Sans Flex"/>
              </a:defRPr>
            </a:pPr>
            <a:r>
              <a:t>Deterministic rules</a:t>
            </a:r>
            <a:br/>
            <a:r>
              <a:t>Risk, ranking, dependencies</a:t>
            </a:r>
          </a:p>
        </p:txBody>
      </p:sp>
      <p:sp>
        <p:nvSpPr>
          <p:cNvPr id="117" name="Rounded Rectangle 116"/>
          <p:cNvSpPr/>
          <p:nvPr/>
        </p:nvSpPr>
        <p:spPr>
          <a:xfrm>
            <a:off x="3337560" y="2971800"/>
            <a:ext cx="2606040" cy="914400"/>
          </a:xfrm>
          <a:prstGeom prst="roundRect">
            <a:avLst/>
          </a:prstGeom>
          <a:solidFill>
            <a:srgbClr val="F1F5FA"/>
          </a:solidFill>
          <a:ln>
            <a:solidFill>
              <a:srgbClr val="B5C5D9"/>
            </a:solidFill>
          </a:ln>
        </p:spPr>
        <p:style>
          <a:lnRef idx="1">
            <a:schemeClr val="accent1"/>
          </a:lnRef>
          <a:fillRef idx="3">
            <a:schemeClr val="accent1"/>
          </a:fillRef>
          <a:effectRef idx="2">
            <a:schemeClr val="accent1"/>
          </a:effectRef>
          <a:fontRef idx="minor">
            <a:schemeClr val="lt1"/>
          </a:fontRef>
        </p:style>
        <p:txBody>
          <a:bodyPr rtlCol="0" anchor="ctr" wrap="square" tIns="73152" lIns="64008" rIns="64008"/>
          <a:lstStyle/>
          <a:p>
            <a:pPr algn="ctr">
              <a:defRPr sz="1300">
                <a:solidFill>
                  <a:srgbClr val="171717"/>
                </a:solidFill>
                <a:latin typeface="Google Sans Flex"/>
              </a:defRPr>
            </a:pPr>
            <a:r>
              <a:t>AI service</a:t>
            </a:r>
            <a:br/>
            <a:r>
              <a:t>Gemini + validated fallback</a:t>
            </a:r>
          </a:p>
        </p:txBody>
      </p:sp>
      <p:sp>
        <p:nvSpPr>
          <p:cNvPr id="118" name="Rounded Rectangle 117"/>
          <p:cNvSpPr/>
          <p:nvPr/>
        </p:nvSpPr>
        <p:spPr>
          <a:xfrm>
            <a:off x="6217920" y="2971800"/>
            <a:ext cx="2468880" cy="914400"/>
          </a:xfrm>
          <a:prstGeom prst="roundRect">
            <a:avLst/>
          </a:prstGeom>
          <a:solidFill>
            <a:srgbClr val="F1F5FA"/>
          </a:solidFill>
          <a:ln>
            <a:solidFill>
              <a:srgbClr val="B5C5D9"/>
            </a:solidFill>
          </a:ln>
        </p:spPr>
        <p:style>
          <a:lnRef idx="1">
            <a:schemeClr val="accent1"/>
          </a:lnRef>
          <a:fillRef idx="3">
            <a:schemeClr val="accent1"/>
          </a:fillRef>
          <a:effectRef idx="2">
            <a:schemeClr val="accent1"/>
          </a:effectRef>
          <a:fontRef idx="minor">
            <a:schemeClr val="lt1"/>
          </a:fontRef>
        </p:style>
        <p:txBody>
          <a:bodyPr rtlCol="0" anchor="ctr" wrap="square" tIns="73152" lIns="64008" rIns="64008"/>
          <a:lstStyle/>
          <a:p>
            <a:pPr algn="ctr">
              <a:defRPr sz="1300">
                <a:solidFill>
                  <a:srgbClr val="171717"/>
                </a:solidFill>
                <a:latin typeface="Google Sans Flex"/>
              </a:defRPr>
            </a:pPr>
            <a:r>
              <a:t>Repository abstraction</a:t>
            </a:r>
            <a:br/>
            <a:r>
              <a:t>Memory / Firestore adapter</a:t>
            </a:r>
          </a:p>
        </p:txBody>
      </p:sp>
      <p:cxnSp>
        <p:nvCxnSpPr>
          <p:cNvPr id="119" name="Connector 118"/>
          <p:cNvCxnSpPr/>
          <p:nvPr/>
        </p:nvCxnSpPr>
        <p:spPr>
          <a:xfrm>
            <a:off x="5486400" y="2286000"/>
            <a:ext cx="0" cy="320040"/>
          </a:xfrm>
          <a:prstGeom prst="line">
            <a:avLst/>
          </a:prstGeom>
          <a:ln w="22860">
            <a:solidFill>
              <a:srgbClr val="1967D2"/>
            </a:solidFill>
            <a:tailEnd type="triangle"/>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737360" y="2606040"/>
            <a:ext cx="5715000" cy="0"/>
          </a:xfrm>
          <a:prstGeom prst="line">
            <a:avLst/>
          </a:prstGeom>
          <a:ln w="22860">
            <a:solidFill>
              <a:srgbClr val="1967D2"/>
            </a:solidFill>
            <a:tailEnd type="triangle"/>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737360" y="2606040"/>
            <a:ext cx="0" cy="365760"/>
          </a:xfrm>
          <a:prstGeom prst="line">
            <a:avLst/>
          </a:prstGeom>
          <a:ln w="22860">
            <a:solidFill>
              <a:srgbClr val="1967D2"/>
            </a:solidFill>
            <a:tailEnd type="triangle"/>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4617720" y="2606040"/>
            <a:ext cx="0" cy="365760"/>
          </a:xfrm>
          <a:prstGeom prst="line">
            <a:avLst/>
          </a:prstGeom>
          <a:ln w="22860">
            <a:solidFill>
              <a:srgbClr val="1967D2"/>
            </a:solidFill>
            <a:tailEnd type="triangle"/>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7452360" y="2606040"/>
            <a:ext cx="0" cy="365760"/>
          </a:xfrm>
          <a:prstGeom prst="line">
            <a:avLst/>
          </a:prstGeom>
          <a:ln w="22860">
            <a:solidFill>
              <a:srgbClr val="1967D2"/>
            </a:solidFill>
            <a:tailEnd type="triangle"/>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502920" y="4343400"/>
            <a:ext cx="8229600" cy="457200"/>
          </a:xfrm>
          <a:prstGeom prst="rect">
            <a:avLst/>
          </a:prstGeom>
          <a:noFill/>
        </p:spPr>
        <p:txBody>
          <a:bodyPr wrap="square" lIns="22860" rIns="22860" tIns="22860" bIns="22860">
            <a:spAutoFit/>
          </a:bodyPr>
          <a:lstStyle/>
          <a:p>
            <a:pPr>
              <a:spcAft>
                <a:spcPts val="700"/>
              </a:spcAft>
              <a:defRPr sz="1400" b="0">
                <a:solidFill>
                  <a:srgbClr val="555555"/>
                </a:solidFill>
                <a:latin typeface="Google Sans Flex"/>
              </a:defRPr>
            </a:pPr>
            <a:r>
              <a:t>Firebase Authentication is implemented for production; this demo uses development personas.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943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1600">
                <a:solidFill>
                  <a:srgbClr val="171717"/>
                </a:solidFill>
                <a:latin typeface="Google Sans Flex Medium"/>
              </a:defRPr>
            </a:pPr>
            <a:r>
              <a:t>Technologies used in the solution</a:t>
            </a:r>
            <a:endParaRPr sz="1600">
              <a:latin typeface="Google Sans Flex Medium"/>
              <a:ea typeface="Google Sans Flex Medium"/>
              <a:cs typeface="Google Sans Flex Medium"/>
              <a:sym typeface="Google Sans Flex Medium"/>
            </a:endParaRPr>
          </a:p>
        </p:txBody>
      </p:sp>
      <p:sp>
        <p:nvSpPr>
          <p:cNvPr id="120" name="TextBox 119"/>
          <p:cNvSpPr txBox="1"/>
          <p:nvPr/>
        </p:nvSpPr>
        <p:spPr>
          <a:xfrm>
            <a:off x="393192" y="1371600"/>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Frontend</a:t>
            </a:r>
          </a:p>
        </p:txBody>
      </p:sp>
      <p:sp>
        <p:nvSpPr>
          <p:cNvPr id="121" name="TextBox 120"/>
          <p:cNvSpPr txBox="1"/>
          <p:nvPr/>
        </p:nvSpPr>
        <p:spPr>
          <a:xfrm>
            <a:off x="2606040" y="1371600"/>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React 19, TypeScript, Vite, Tailwind CSS and React Router.</a:t>
            </a:r>
          </a:p>
        </p:txBody>
      </p:sp>
      <p:sp>
        <p:nvSpPr>
          <p:cNvPr id="122" name="TextBox 121"/>
          <p:cNvSpPr txBox="1"/>
          <p:nvPr/>
        </p:nvSpPr>
        <p:spPr>
          <a:xfrm>
            <a:off x="393192" y="2029967"/>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Backend</a:t>
            </a:r>
          </a:p>
        </p:txBody>
      </p:sp>
      <p:sp>
        <p:nvSpPr>
          <p:cNvPr id="123" name="TextBox 122"/>
          <p:cNvSpPr txBox="1"/>
          <p:nvPr/>
        </p:nvSpPr>
        <p:spPr>
          <a:xfrm>
            <a:off x="2606040" y="2029967"/>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Python 3.12, FastAPI, Pydantic and Uvicorn.</a:t>
            </a:r>
          </a:p>
        </p:txBody>
      </p:sp>
      <p:sp>
        <p:nvSpPr>
          <p:cNvPr id="124" name="TextBox 123"/>
          <p:cNvSpPr txBox="1"/>
          <p:nvPr/>
        </p:nvSpPr>
        <p:spPr>
          <a:xfrm>
            <a:off x="393192" y="2688336"/>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AI and data</a:t>
            </a:r>
          </a:p>
        </p:txBody>
      </p:sp>
      <p:sp>
        <p:nvSpPr>
          <p:cNvPr id="125" name="TextBox 124"/>
          <p:cNvSpPr txBox="1"/>
          <p:nvPr/>
        </p:nvSpPr>
        <p:spPr>
          <a:xfrm>
            <a:off x="2606040" y="2688336"/>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Google Gen AI SDK, Gemini integration and Cloud Firestore adapter.</a:t>
            </a:r>
          </a:p>
        </p:txBody>
      </p:sp>
      <p:sp>
        <p:nvSpPr>
          <p:cNvPr id="126" name="TextBox 125"/>
          <p:cNvSpPr txBox="1"/>
          <p:nvPr/>
        </p:nvSpPr>
        <p:spPr>
          <a:xfrm>
            <a:off x="393192" y="3346704"/>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Identity and hosting</a:t>
            </a:r>
          </a:p>
        </p:txBody>
      </p:sp>
      <p:sp>
        <p:nvSpPr>
          <p:cNvPr id="127" name="TextBox 126"/>
          <p:cNvSpPr txBox="1"/>
          <p:nvPr/>
        </p:nvSpPr>
        <p:spPr>
          <a:xfrm>
            <a:off x="2606040" y="3346704"/>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Firebase Authentication code; Docker / Cloud Run deployment configuration.</a:t>
            </a:r>
          </a:p>
        </p:txBody>
      </p:sp>
      <p:sp>
        <p:nvSpPr>
          <p:cNvPr id="128" name="TextBox 127"/>
          <p:cNvSpPr txBox="1"/>
          <p:nvPr/>
        </p:nvSpPr>
        <p:spPr>
          <a:xfrm>
            <a:off x="393192" y="4005072"/>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Verification</a:t>
            </a:r>
          </a:p>
        </p:txBody>
      </p:sp>
      <p:sp>
        <p:nvSpPr>
          <p:cNvPr id="129" name="TextBox 128"/>
          <p:cNvSpPr txBox="1"/>
          <p:nvPr/>
        </p:nvSpPr>
        <p:spPr>
          <a:xfrm>
            <a:off x="2606040" y="4005072"/>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pytest, coverage, Vitest, Testing Library, Ruff and oxlint.</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943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1600">
                <a:solidFill>
                  <a:srgbClr val="171717"/>
                </a:solidFill>
                <a:latin typeface="Google Sans Flex Medium"/>
              </a:defRPr>
            </a:pPr>
            <a:r>
              <a:t>Implementation cost and operating assumptions</a:t>
            </a:r>
            <a:endParaRPr sz="1600">
              <a:latin typeface="Google Sans Flex Medium"/>
              <a:ea typeface="Google Sans Flex Medium"/>
              <a:cs typeface="Google Sans Flex Medium"/>
              <a:sym typeface="Google Sans Flex Medium"/>
            </a:endParaRPr>
          </a:p>
        </p:txBody>
      </p:sp>
      <p:sp>
        <p:nvSpPr>
          <p:cNvPr id="128" name="TextBox 127"/>
          <p:cNvSpPr txBox="1"/>
          <p:nvPr/>
        </p:nvSpPr>
        <p:spPr>
          <a:xfrm>
            <a:off x="393192" y="1508760"/>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Local prototype</a:t>
            </a:r>
          </a:p>
        </p:txBody>
      </p:sp>
      <p:sp>
        <p:nvSpPr>
          <p:cNvPr id="129" name="TextBox 128"/>
          <p:cNvSpPr txBox="1"/>
          <p:nvPr/>
        </p:nvSpPr>
        <p:spPr>
          <a:xfrm>
            <a:off x="2606040" y="1508760"/>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No cloud account or API key needed for the memory-backed fallback demo.</a:t>
            </a:r>
          </a:p>
        </p:txBody>
      </p:sp>
      <p:sp>
        <p:nvSpPr>
          <p:cNvPr id="130" name="TextBox 129"/>
          <p:cNvSpPr txBox="1"/>
          <p:nvPr/>
        </p:nvSpPr>
        <p:spPr>
          <a:xfrm>
            <a:off x="393192" y="2258568"/>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Development</a:t>
            </a:r>
          </a:p>
        </p:txBody>
      </p:sp>
      <p:sp>
        <p:nvSpPr>
          <p:cNvPr id="131" name="TextBox 130"/>
          <p:cNvSpPr txBox="1"/>
          <p:nvPr/>
        </p:nvSpPr>
        <p:spPr>
          <a:xfrm>
            <a:off x="2606040" y="2258568"/>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Existing hardware and team time; engineering effort has not been costed.</a:t>
            </a:r>
          </a:p>
        </p:txBody>
      </p:sp>
      <p:sp>
        <p:nvSpPr>
          <p:cNvPr id="132" name="TextBox 131"/>
          <p:cNvSpPr txBox="1"/>
          <p:nvPr/>
        </p:nvSpPr>
        <p:spPr>
          <a:xfrm>
            <a:off x="393192" y="3008376"/>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Hosted pilot</a:t>
            </a:r>
          </a:p>
        </p:txBody>
      </p:sp>
      <p:sp>
        <p:nvSpPr>
          <p:cNvPr id="133" name="TextBox 132"/>
          <p:cNvSpPr txBox="1"/>
          <p:nvPr/>
        </p:nvSpPr>
        <p:spPr>
          <a:xfrm>
            <a:off x="2606040" y="3008376"/>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Cloud Run, Firestore and Gemini usage depend on traffic and configuration.</a:t>
            </a:r>
          </a:p>
        </p:txBody>
      </p:sp>
      <p:sp>
        <p:nvSpPr>
          <p:cNvPr id="134" name="TextBox 133"/>
          <p:cNvSpPr txBox="1"/>
          <p:nvPr/>
        </p:nvSpPr>
        <p:spPr>
          <a:xfrm>
            <a:off x="393192" y="3758183"/>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Estimate status</a:t>
            </a:r>
          </a:p>
        </p:txBody>
      </p:sp>
      <p:sp>
        <p:nvSpPr>
          <p:cNvPr id="135" name="TextBox 134"/>
          <p:cNvSpPr txBox="1"/>
          <p:nvPr/>
        </p:nvSpPr>
        <p:spPr>
          <a:xfrm>
            <a:off x="2606040" y="3758183"/>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No cloud cost estimate or paid deployment was verified in this run.</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943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1600">
                <a:solidFill>
                  <a:srgbClr val="171717"/>
                </a:solidFill>
                <a:latin typeface="Google Sans Flex Medium"/>
              </a:defRPr>
            </a:pPr>
            <a:r>
              <a:t>Prototype snapshot: backup recommendations</a:t>
            </a:r>
            <a:endParaRPr sz="1600">
              <a:latin typeface="Google Sans Flex Medium"/>
              <a:ea typeface="Google Sans Flex Medium"/>
              <a:cs typeface="Google Sans Flex Medium"/>
              <a:sym typeface="Google Sans Flex Medium"/>
            </a:endParaRPr>
          </a:p>
        </p:txBody>
      </p:sp>
      <p:pic>
        <p:nvPicPr>
          <p:cNvPr id="136" name="Picture 135" descr="09-candidate-ranking.png"/>
          <p:cNvPicPr>
            <a:picLocks noChangeAspect="1"/>
          </p:cNvPicPr>
          <p:nvPr/>
        </p:nvPicPr>
        <p:blipFill>
          <a:blip r:embed="rId5"/>
          <a:srcRect b="34537"/>
          <a:stretch>
            <a:fillRect/>
          </a:stretch>
        </p:blipFill>
        <p:spPr>
          <a:xfrm>
            <a:off x="566928" y="1353312"/>
            <a:ext cx="8001000" cy="3273552"/>
          </a:xfrm>
          <a:prstGeom prst="rect">
            <a:avLst/>
          </a:prstGeom>
        </p:spPr>
      </p:pic>
      <p:sp>
        <p:nvSpPr>
          <p:cNvPr id="137" name="TextBox 136"/>
          <p:cNvSpPr txBox="1"/>
          <p:nvPr/>
        </p:nvSpPr>
        <p:spPr>
          <a:xfrm>
            <a:off x="594360" y="4690872"/>
            <a:ext cx="8046720" cy="292608"/>
          </a:xfrm>
          <a:prstGeom prst="rect">
            <a:avLst/>
          </a:prstGeom>
          <a:noFill/>
        </p:spPr>
        <p:txBody>
          <a:bodyPr wrap="square" lIns="22860" rIns="22860" tIns="22860" bIns="22860">
            <a:spAutoFit/>
          </a:bodyPr>
          <a:lstStyle/>
          <a:p>
            <a:pPr>
              <a:spcAft>
                <a:spcPts val="700"/>
              </a:spcAft>
              <a:defRPr sz="1100" b="0">
                <a:solidFill>
                  <a:srgbClr val="555555"/>
                </a:solidFill>
                <a:latin typeface="Google Sans Flex"/>
              </a:defRPr>
            </a:pPr>
            <a:r>
              <a:t>Ranked candidates show the trade-off; managers retain the assignment decision.</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943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1600">
                <a:solidFill>
                  <a:srgbClr val="171717"/>
                </a:solidFill>
                <a:latin typeface="Google Sans Flex Medium"/>
              </a:defRPr>
            </a:pPr>
            <a:r>
              <a:t>Prototype performance and benchmarking</a:t>
            </a:r>
            <a:endParaRPr sz="1600">
              <a:latin typeface="Google Sans Flex Medium"/>
              <a:ea typeface="Google Sans Flex Medium"/>
              <a:cs typeface="Google Sans Flex Medium"/>
              <a:sym typeface="Google Sans Flex Medium"/>
            </a:endParaRPr>
          </a:p>
        </p:txBody>
      </p:sp>
      <p:graphicFrame>
        <p:nvGraphicFramePr>
          <p:cNvPr id="144" name="Table 143"/>
          <p:cNvGraphicFramePr>
            <a:graphicFrameLocks noGrp="1"/>
          </p:cNvGraphicFramePr>
          <p:nvPr/>
        </p:nvGraphicFramePr>
        <p:xfrm>
          <a:off x="457200" y="1463040"/>
          <a:ext cx="8229600" cy="2377440"/>
        </p:xfrm>
        <a:graphic>
          <a:graphicData uri="http://schemas.openxmlformats.org/drawingml/2006/table">
            <a:tbl>
              <a:tblPr firstRow="1" bandRow="1">
                <a:tableStyleId>{5C22544A-7EE6-4342-B048-85BDC9FD1C3A}</a:tableStyleId>
              </a:tblPr>
              <a:tblGrid>
                <a:gridCol w="3108960"/>
                <a:gridCol w="1508760"/>
                <a:gridCol w="3611880"/>
              </a:tblGrid>
              <a:tr h="396240">
                <a:tc>
                  <a:txBody>
                    <a:bodyPr/>
                    <a:lstStyle/>
                    <a:p>
                      <a:pPr>
                        <a:defRPr sz="1200" b="1">
                          <a:solidFill>
                            <a:srgbClr val="171717"/>
                          </a:solidFill>
                          <a:latin typeface="Google Sans Flex"/>
                        </a:defRPr>
                      </a:pPr>
                      <a:r>
                        <a:t>Local verification</a:t>
                      </a:r>
                    </a:p>
                  </a:txBody>
                  <a:tcPr>
                    <a:solidFill>
                      <a:srgbClr val="E8F0FE"/>
                    </a:solidFill>
                  </a:tcPr>
                </a:tc>
                <a:tc>
                  <a:txBody>
                    <a:bodyPr/>
                    <a:lstStyle/>
                    <a:p>
                      <a:pPr>
                        <a:defRPr sz="1200" b="1">
                          <a:solidFill>
                            <a:srgbClr val="171717"/>
                          </a:solidFill>
                          <a:latin typeface="Google Sans Flex"/>
                        </a:defRPr>
                      </a:pPr>
                      <a:r>
                        <a:t>Result</a:t>
                      </a:r>
                    </a:p>
                  </a:txBody>
                  <a:tcPr>
                    <a:solidFill>
                      <a:srgbClr val="E8F0FE"/>
                    </a:solidFill>
                  </a:tcPr>
                </a:tc>
                <a:tc>
                  <a:txBody>
                    <a:bodyPr/>
                    <a:lstStyle/>
                    <a:p>
                      <a:pPr>
                        <a:defRPr sz="1200" b="1">
                          <a:solidFill>
                            <a:srgbClr val="171717"/>
                          </a:solidFill>
                          <a:latin typeface="Google Sans Flex"/>
                        </a:defRPr>
                      </a:pPr>
                      <a:r>
                        <a:t>Scope</a:t>
                      </a:r>
                    </a:p>
                  </a:txBody>
                  <a:tcPr>
                    <a:solidFill>
                      <a:srgbClr val="E8F0FE"/>
                    </a:solidFill>
                  </a:tcPr>
                </a:tc>
              </a:tr>
              <a:tr h="396240">
                <a:tc>
                  <a:txBody>
                    <a:bodyPr/>
                    <a:lstStyle/>
                    <a:p>
                      <a:pPr>
                        <a:defRPr sz="1200" b="0">
                          <a:solidFill>
                            <a:srgbClr val="171717"/>
                          </a:solidFill>
                          <a:latin typeface="Google Sans Flex"/>
                        </a:defRPr>
                      </a:pPr>
                      <a:r>
                        <a:t>Backend / frontend tests</a:t>
                      </a:r>
                    </a:p>
                  </a:txBody>
                  <a:tcPr>
                    <a:solidFill>
                      <a:srgbClr val="FFFFFF"/>
                    </a:solidFill>
                  </a:tcPr>
                </a:tc>
                <a:tc>
                  <a:txBody>
                    <a:bodyPr/>
                    <a:lstStyle/>
                    <a:p>
                      <a:pPr>
                        <a:defRPr sz="1200" b="0">
                          <a:solidFill>
                            <a:srgbClr val="171717"/>
                          </a:solidFill>
                          <a:latin typeface="Google Sans Flex"/>
                        </a:defRPr>
                      </a:pPr>
                      <a:r>
                        <a:t>138 / 47 passed</a:t>
                      </a:r>
                    </a:p>
                  </a:txBody>
                  <a:tcPr>
                    <a:solidFill>
                      <a:srgbClr val="FFFFFF"/>
                    </a:solidFill>
                  </a:tcPr>
                </a:tc>
                <a:tc>
                  <a:txBody>
                    <a:bodyPr/>
                    <a:lstStyle/>
                    <a:p>
                      <a:pPr>
                        <a:defRPr sz="1200" b="0">
                          <a:solidFill>
                            <a:srgbClr val="171717"/>
                          </a:solidFill>
                          <a:latin typeface="Google Sans Flex"/>
                        </a:defRPr>
                      </a:pPr>
                      <a:r>
                        <a:t>Existing automated suites</a:t>
                      </a:r>
                    </a:p>
                  </a:txBody>
                  <a:tcPr>
                    <a:solidFill>
                      <a:srgbClr val="FFFFFF"/>
                    </a:solidFill>
                  </a:tcPr>
                </a:tc>
              </a:tr>
              <a:tr h="396240">
                <a:tc>
                  <a:txBody>
                    <a:bodyPr/>
                    <a:lstStyle/>
                    <a:p>
                      <a:pPr>
                        <a:defRPr sz="1200" b="0">
                          <a:solidFill>
                            <a:srgbClr val="171717"/>
                          </a:solidFill>
                          <a:latin typeface="Google Sans Flex"/>
                        </a:defRPr>
                      </a:pPr>
                      <a:r>
                        <a:t>Backend statement coverage</a:t>
                      </a:r>
                    </a:p>
                  </a:txBody>
                  <a:tcPr>
                    <a:solidFill>
                      <a:srgbClr val="FFFFFF"/>
                    </a:solidFill>
                  </a:tcPr>
                </a:tc>
                <a:tc>
                  <a:txBody>
                    <a:bodyPr/>
                    <a:lstStyle/>
                    <a:p>
                      <a:pPr>
                        <a:defRPr sz="1200" b="0">
                          <a:solidFill>
                            <a:srgbClr val="171717"/>
                          </a:solidFill>
                          <a:latin typeface="Google Sans Flex"/>
                        </a:defRPr>
                      </a:pPr>
                      <a:r>
                        <a:t>91%</a:t>
                      </a:r>
                    </a:p>
                  </a:txBody>
                  <a:tcPr>
                    <a:solidFill>
                      <a:srgbClr val="FFFFFF"/>
                    </a:solidFill>
                  </a:tcPr>
                </a:tc>
                <a:tc>
                  <a:txBody>
                    <a:bodyPr/>
                    <a:lstStyle/>
                    <a:p>
                      <a:pPr>
                        <a:defRPr sz="1200" b="0">
                          <a:solidFill>
                            <a:srgbClr val="171717"/>
                          </a:solidFill>
                          <a:latin typeface="Google Sans Flex"/>
                        </a:defRPr>
                      </a:pPr>
                      <a:r>
                        <a:t>3,244 statements</a:t>
                      </a:r>
                    </a:p>
                  </a:txBody>
                  <a:tcPr>
                    <a:solidFill>
                      <a:srgbClr val="FFFFFF"/>
                    </a:solidFill>
                  </a:tcPr>
                </a:tc>
              </a:tr>
              <a:tr h="396240">
                <a:tc>
                  <a:txBody>
                    <a:bodyPr/>
                    <a:lstStyle/>
                    <a:p>
                      <a:pPr>
                        <a:defRPr sz="1200" b="0">
                          <a:solidFill>
                            <a:srgbClr val="171717"/>
                          </a:solidFill>
                          <a:latin typeface="Google Sans Flex"/>
                        </a:defRPr>
                      </a:pPr>
                      <a:r>
                        <a:t>Expected delivery risks</a:t>
                      </a:r>
                    </a:p>
                  </a:txBody>
                  <a:tcPr>
                    <a:solidFill>
                      <a:srgbClr val="FFFFFF"/>
                    </a:solidFill>
                  </a:tcPr>
                </a:tc>
                <a:tc>
                  <a:txBody>
                    <a:bodyPr/>
                    <a:lstStyle/>
                    <a:p>
                      <a:pPr>
                        <a:defRPr sz="1200" b="0">
                          <a:solidFill>
                            <a:srgbClr val="171717"/>
                          </a:solidFill>
                          <a:latin typeface="Google Sans Flex"/>
                        </a:defRPr>
                      </a:pPr>
                      <a:r>
                        <a:t>8 / 8 found</a:t>
                      </a:r>
                    </a:p>
                  </a:txBody>
                  <a:tcPr>
                    <a:solidFill>
                      <a:srgbClr val="FFFFFF"/>
                    </a:solidFill>
                  </a:tcPr>
                </a:tc>
                <a:tc>
                  <a:txBody>
                    <a:bodyPr/>
                    <a:lstStyle/>
                    <a:p>
                      <a:pPr>
                        <a:defRPr sz="1200" b="0">
                          <a:solidFill>
                            <a:srgbClr val="171717"/>
                          </a:solidFill>
                          <a:latin typeface="Google Sans Flex"/>
                        </a:defRPr>
                      </a:pPr>
                      <a:r>
                        <a:t>One synthetic payments project</a:t>
                      </a:r>
                    </a:p>
                  </a:txBody>
                  <a:tcPr>
                    <a:solidFill>
                      <a:srgbClr val="FFFFFF"/>
                    </a:solidFill>
                  </a:tcPr>
                </a:tc>
              </a:tr>
              <a:tr h="396240">
                <a:tc>
                  <a:txBody>
                    <a:bodyPr/>
                    <a:lstStyle/>
                    <a:p>
                      <a:pPr>
                        <a:defRPr sz="1200" b="0">
                          <a:solidFill>
                            <a:srgbClr val="171717"/>
                          </a:solidFill>
                          <a:latin typeface="Google Sans Flex"/>
                        </a:defRPr>
                      </a:pPr>
                      <a:r>
                        <a:t>Ineligible assignments</a:t>
                      </a:r>
                    </a:p>
                  </a:txBody>
                  <a:tcPr>
                    <a:solidFill>
                      <a:srgbClr val="FFFFFF"/>
                    </a:solidFill>
                  </a:tcPr>
                </a:tc>
                <a:tc>
                  <a:txBody>
                    <a:bodyPr/>
                    <a:lstStyle/>
                    <a:p>
                      <a:pPr>
                        <a:defRPr sz="1200" b="0">
                          <a:solidFill>
                            <a:srgbClr val="171717"/>
                          </a:solidFill>
                          <a:latin typeface="Google Sans Flex"/>
                        </a:defRPr>
                      </a:pPr>
                      <a:r>
                        <a:t>6 / 6 refused</a:t>
                      </a:r>
                    </a:p>
                  </a:txBody>
                  <a:tcPr>
                    <a:solidFill>
                      <a:srgbClr val="FFFFFF"/>
                    </a:solidFill>
                  </a:tcPr>
                </a:tc>
                <a:tc>
                  <a:txBody>
                    <a:bodyPr/>
                    <a:lstStyle/>
                    <a:p>
                      <a:pPr>
                        <a:defRPr sz="1200" b="0">
                          <a:solidFill>
                            <a:srgbClr val="171717"/>
                          </a:solidFill>
                          <a:latin typeface="Google Sans Flex"/>
                        </a:defRPr>
                      </a:pPr>
                      <a:r>
                        <a:t>Synthetic backup candidates</a:t>
                      </a:r>
                    </a:p>
                  </a:txBody>
                  <a:tcPr>
                    <a:solidFill>
                      <a:srgbClr val="FFFFFF"/>
                    </a:solidFill>
                  </a:tcPr>
                </a:tc>
              </a:tr>
              <a:tr h="396240">
                <a:tc>
                  <a:txBody>
                    <a:bodyPr/>
                    <a:lstStyle/>
                    <a:p>
                      <a:pPr>
                        <a:defRPr sz="1200" b="0">
                          <a:solidFill>
                            <a:srgbClr val="171717"/>
                          </a:solidFill>
                          <a:latin typeface="Google Sans Flex"/>
                        </a:defRPr>
                      </a:pPr>
                      <a:r>
                        <a:t>Unauthorized reads</a:t>
                      </a:r>
                    </a:p>
                  </a:txBody>
                  <a:tcPr>
                    <a:solidFill>
                      <a:srgbClr val="FFFFFF"/>
                    </a:solidFill>
                  </a:tcPr>
                </a:tc>
                <a:tc>
                  <a:txBody>
                    <a:bodyPr/>
                    <a:lstStyle/>
                    <a:p>
                      <a:pPr>
                        <a:defRPr sz="1200" b="0">
                          <a:solidFill>
                            <a:srgbClr val="171717"/>
                          </a:solidFill>
                          <a:latin typeface="Google Sans Flex"/>
                        </a:defRPr>
                      </a:pPr>
                      <a:r>
                        <a:t>60 / 60 refused</a:t>
                      </a:r>
                    </a:p>
                  </a:txBody>
                  <a:tcPr>
                    <a:solidFill>
                      <a:srgbClr val="FFFFFF"/>
                    </a:solidFill>
                  </a:tcPr>
                </a:tc>
                <a:tc>
                  <a:txBody>
                    <a:bodyPr/>
                    <a:lstStyle/>
                    <a:p>
                      <a:pPr>
                        <a:defRPr sz="1200" b="0">
                          <a:solidFill>
                            <a:srgbClr val="171717"/>
                          </a:solidFill>
                          <a:latin typeface="Google Sans Flex"/>
                        </a:defRPr>
                      </a:pPr>
                      <a:r>
                        <a:t>45 cross-user + 15 project reads</a:t>
                      </a:r>
                    </a:p>
                  </a:txBody>
                  <a:tcPr>
                    <a:solidFill>
                      <a:srgbClr val="FFFFFF"/>
                    </a:solidFill>
                  </a:tcPr>
                </a:tc>
              </a:tr>
            </a:tbl>
          </a:graphicData>
        </a:graphic>
      </p:graphicFrame>
      <p:sp>
        <p:nvSpPr>
          <p:cNvPr id="145" name="TextBox 144"/>
          <p:cNvSpPr txBox="1"/>
          <p:nvPr/>
        </p:nvSpPr>
        <p:spPr>
          <a:xfrm>
            <a:off x="502920" y="4114800"/>
            <a:ext cx="8183879" cy="640080"/>
          </a:xfrm>
          <a:prstGeom prst="rect">
            <a:avLst/>
          </a:prstGeom>
          <a:noFill/>
        </p:spPr>
        <p:txBody>
          <a:bodyPr wrap="square" lIns="22860" rIns="22860" tIns="22860" bIns="22860">
            <a:spAutoFit/>
          </a:bodyPr>
          <a:lstStyle/>
          <a:p>
            <a:pPr>
              <a:spcAft>
                <a:spcPts val="700"/>
              </a:spcAft>
              <a:defRPr sz="1300" b="0">
                <a:solidFill>
                  <a:srgbClr val="555555"/>
                </a:solidFill>
                <a:latin typeface="Google Sans Flex"/>
              </a:defRPr>
            </a:pPr>
            <a:r>
              <a:t>Build and Python lint pass. Frontend lint: 16 warnings, 0 errors.</a:t>
            </a:r>
          </a:p>
          <a:p>
            <a:pPr>
              <a:spcAft>
                <a:spcPts val="700"/>
              </a:spcAft>
              <a:defRPr sz="1300" b="0">
                <a:solidFill>
                  <a:srgbClr val="555555"/>
                </a:solidFill>
                <a:latin typeface="Google Sans Flex"/>
              </a:defRPr>
            </a:pPr>
            <a:r>
              <a:t>Synthetic results do not establish real-team productivity gains or production readiness.</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943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1600">
                <a:solidFill>
                  <a:srgbClr val="171717"/>
                </a:solidFill>
                <a:latin typeface="Google Sans Flex Medium"/>
              </a:defRPr>
            </a:pPr>
            <a:r>
              <a:t>Additional details and future development</a:t>
            </a:r>
            <a:endParaRPr sz="1600">
              <a:latin typeface="Google Sans Flex Medium"/>
              <a:ea typeface="Google Sans Flex Medium"/>
              <a:cs typeface="Google Sans Flex Medium"/>
              <a:sym typeface="Google Sans Flex Medium"/>
            </a:endParaRPr>
          </a:p>
        </p:txBody>
      </p:sp>
      <p:sp>
        <p:nvSpPr>
          <p:cNvPr id="152" name="TextBox 151"/>
          <p:cNvSpPr txBox="1"/>
          <p:nvPr/>
        </p:nvSpPr>
        <p:spPr>
          <a:xfrm>
            <a:off x="393192" y="1463040"/>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Validated locally</a:t>
            </a:r>
          </a:p>
        </p:txBody>
      </p:sp>
      <p:sp>
        <p:nvSpPr>
          <p:cNvPr id="153" name="TextBox 152"/>
          <p:cNvSpPr txBox="1"/>
          <p:nvPr/>
        </p:nvSpPr>
        <p:spPr>
          <a:xfrm>
            <a:off x="2606040" y="1463040"/>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Manager and engineer flows, requests, approvals, handovers and fallback behaviour.</a:t>
            </a:r>
          </a:p>
        </p:txBody>
      </p:sp>
      <p:sp>
        <p:nvSpPr>
          <p:cNvPr id="154" name="TextBox 153"/>
          <p:cNvSpPr txBox="1"/>
          <p:nvPr/>
        </p:nvSpPr>
        <p:spPr>
          <a:xfrm>
            <a:off x="393192" y="2231136"/>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Before a real pilot</a:t>
            </a:r>
          </a:p>
        </p:txBody>
      </p:sp>
      <p:sp>
        <p:nvSpPr>
          <p:cNvPr id="155" name="TextBox 154"/>
          <p:cNvSpPr txBox="1"/>
          <p:nvPr/>
        </p:nvSpPr>
        <p:spPr>
          <a:xfrm>
            <a:off x="2606040" y="2231136"/>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Real user onboarding, persistent data setup and a complete Firebase sign-in check.</a:t>
            </a:r>
          </a:p>
        </p:txBody>
      </p:sp>
      <p:sp>
        <p:nvSpPr>
          <p:cNvPr id="156" name="TextBox 155"/>
          <p:cNvSpPr txBox="1"/>
          <p:nvPr/>
        </p:nvSpPr>
        <p:spPr>
          <a:xfrm>
            <a:off x="393192" y="2999232"/>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Reliability work</a:t>
            </a:r>
          </a:p>
        </p:txBody>
      </p:sp>
      <p:sp>
        <p:nvSpPr>
          <p:cNvPr id="157" name="TextBox 156"/>
          <p:cNvSpPr txBox="1"/>
          <p:nvPr/>
        </p:nvSpPr>
        <p:spPr>
          <a:xfrm>
            <a:off x="2606040" y="2999232"/>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Atomic handover updates, scheduled reminders and broader browser / Firestore tests.</a:t>
            </a:r>
          </a:p>
        </p:txBody>
      </p:sp>
      <p:sp>
        <p:nvSpPr>
          <p:cNvPr id="158" name="TextBox 157"/>
          <p:cNvSpPr txBox="1"/>
          <p:nvPr/>
        </p:nvSpPr>
        <p:spPr>
          <a:xfrm>
            <a:off x="393192" y="3767328"/>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Product evaluation</a:t>
            </a:r>
          </a:p>
        </p:txBody>
      </p:sp>
      <p:sp>
        <p:nvSpPr>
          <p:cNvPr id="159" name="TextBox 158"/>
          <p:cNvSpPr txBox="1"/>
          <p:nvPr/>
        </p:nvSpPr>
        <p:spPr>
          <a:xfrm>
            <a:off x="2606040" y="3767328"/>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Test with a real team; measure decision waiting time and handover completeness.</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5943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1600">
                <a:solidFill>
                  <a:srgbClr val="171717"/>
                </a:solidFill>
                <a:latin typeface="Google Sans Flex Medium"/>
              </a:defRPr>
            </a:pPr>
            <a:r>
              <a:t>Repository, demo video and product access</a:t>
            </a:r>
            <a:endParaRPr sz="1600">
              <a:latin typeface="Google Sans Flex Medium"/>
              <a:ea typeface="Google Sans Flex Medium"/>
              <a:cs typeface="Google Sans Flex Medium"/>
              <a:sym typeface="Google Sans Flex Medium"/>
            </a:endParaRPr>
          </a:p>
        </p:txBody>
      </p:sp>
      <p:sp>
        <p:nvSpPr>
          <p:cNvPr id="160" name="TextBox 159"/>
          <p:cNvSpPr txBox="1"/>
          <p:nvPr/>
        </p:nvSpPr>
        <p:spPr>
          <a:xfrm>
            <a:off x="502920" y="1508760"/>
            <a:ext cx="8138160" cy="365760"/>
          </a:xfrm>
          <a:prstGeom prst="rect">
            <a:avLst/>
          </a:prstGeom>
          <a:noFill/>
        </p:spPr>
        <p:txBody>
          <a:bodyPr wrap="square" lIns="22860" rIns="22860" tIns="22860" bIns="22860">
            <a:spAutoFit/>
          </a:bodyPr>
          <a:lstStyle/>
          <a:p>
            <a:pPr>
              <a:spcAft>
                <a:spcPts val="700"/>
              </a:spcAft>
              <a:defRPr sz="1700" b="1">
                <a:solidFill>
                  <a:srgbClr val="171717"/>
                </a:solidFill>
                <a:latin typeface="Google Sans Flex"/>
              </a:defRPr>
            </a:pPr>
            <a:r>
              <a:t>GitHub public repository</a:t>
            </a:r>
          </a:p>
        </p:txBody>
      </p:sp>
      <p:sp>
        <p:nvSpPr>
          <p:cNvPr id="161" name="TextBox 160"/>
          <p:cNvSpPr txBox="1"/>
          <p:nvPr/>
        </p:nvSpPr>
        <p:spPr>
          <a:xfrm>
            <a:off x="502920" y="1901952"/>
            <a:ext cx="8138160" cy="365760"/>
          </a:xfrm>
          <a:prstGeom prst="rect">
            <a:avLst/>
          </a:prstGeom>
          <a:noFill/>
        </p:spPr>
        <p:txBody>
          <a:bodyPr wrap="square" lIns="22860" rIns="22860" tIns="22860" bIns="22860">
            <a:spAutoFit/>
          </a:bodyPr>
          <a:lstStyle/>
          <a:p>
            <a:pPr>
              <a:spcAft>
                <a:spcPts val="700"/>
              </a:spcAft>
              <a:defRPr sz="1700" b="0">
                <a:solidFill>
                  <a:srgbClr val="1967D2"/>
                </a:solidFill>
                <a:latin typeface="Google Sans Flex"/>
              </a:defRPr>
            </a:pPr>
            <a:r>
              <a:rPr>
                <a:hlinkClick r:id="rId5"/>
              </a:rPr>
              <a:t>github.com/demon192/pulse-ai</a:t>
            </a:r>
          </a:p>
        </p:txBody>
      </p:sp>
      <p:sp>
        <p:nvSpPr>
          <p:cNvPr id="162" name="TextBox 161"/>
          <p:cNvSpPr txBox="1"/>
          <p:nvPr/>
        </p:nvSpPr>
        <p:spPr>
          <a:xfrm>
            <a:off x="502920" y="2514600"/>
            <a:ext cx="8138160" cy="365760"/>
          </a:xfrm>
          <a:prstGeom prst="rect">
            <a:avLst/>
          </a:prstGeom>
          <a:noFill/>
        </p:spPr>
        <p:txBody>
          <a:bodyPr wrap="square" lIns="22860" rIns="22860" tIns="22860" bIns="22860">
            <a:spAutoFit/>
          </a:bodyPr>
          <a:lstStyle/>
          <a:p>
            <a:pPr>
              <a:spcAft>
                <a:spcPts val="700"/>
              </a:spcAft>
              <a:defRPr sz="1700" b="1">
                <a:solidFill>
                  <a:srgbClr val="171717"/>
                </a:solidFill>
                <a:latin typeface="Google Sans Flex"/>
              </a:defRPr>
            </a:pPr>
            <a:r>
              <a:t>Three-minute demo</a:t>
            </a:r>
          </a:p>
        </p:txBody>
      </p:sp>
      <p:sp>
        <p:nvSpPr>
          <p:cNvPr id="163" name="TextBox 162"/>
          <p:cNvSpPr txBox="1"/>
          <p:nvPr/>
        </p:nvSpPr>
        <p:spPr>
          <a:xfrm>
            <a:off x="502920" y="2907792"/>
            <a:ext cx="8138160" cy="411480"/>
          </a:xfrm>
          <a:prstGeom prst="rect">
            <a:avLst/>
          </a:prstGeom>
          <a:noFill/>
        </p:spPr>
        <p:txBody>
          <a:bodyPr wrap="square" lIns="22860" rIns="22860" tIns="22860" bIns="22860">
            <a:spAutoFit/>
          </a:bodyPr>
          <a:lstStyle/>
          <a:p>
            <a:pPr>
              <a:spcAft>
                <a:spcPts val="700"/>
              </a:spcAft>
              <a:defRPr sz="1500" b="0">
                <a:solidFill>
                  <a:srgbClr val="555555"/>
                </a:solidFill>
                <a:latin typeface="Google Sans Flex"/>
              </a:defRPr>
            </a:pPr>
            <a:r>
              <a:t>Team recording planned · add the public video URL before submission</a:t>
            </a:r>
          </a:p>
        </p:txBody>
      </p:sp>
      <p:sp>
        <p:nvSpPr>
          <p:cNvPr id="164" name="TextBox 163"/>
          <p:cNvSpPr txBox="1"/>
          <p:nvPr/>
        </p:nvSpPr>
        <p:spPr>
          <a:xfrm>
            <a:off x="502920" y="3611880"/>
            <a:ext cx="8138160" cy="365760"/>
          </a:xfrm>
          <a:prstGeom prst="rect">
            <a:avLst/>
          </a:prstGeom>
          <a:noFill/>
        </p:spPr>
        <p:txBody>
          <a:bodyPr wrap="square" lIns="22860" rIns="22860" tIns="22860" bIns="22860">
            <a:spAutoFit/>
          </a:bodyPr>
          <a:lstStyle/>
          <a:p>
            <a:pPr>
              <a:spcAft>
                <a:spcPts val="700"/>
              </a:spcAft>
              <a:defRPr sz="1700" b="1">
                <a:solidFill>
                  <a:srgbClr val="171717"/>
                </a:solidFill>
                <a:latin typeface="Google Sans Flex"/>
              </a:defRPr>
            </a:pPr>
            <a:r>
              <a:t>Final product</a:t>
            </a:r>
          </a:p>
        </p:txBody>
      </p:sp>
      <p:sp>
        <p:nvSpPr>
          <p:cNvPr id="165" name="TextBox 164"/>
          <p:cNvSpPr txBox="1"/>
          <p:nvPr/>
        </p:nvSpPr>
        <p:spPr>
          <a:xfrm>
            <a:off x="502920" y="4005072"/>
            <a:ext cx="8138160" cy="411480"/>
          </a:xfrm>
          <a:prstGeom prst="rect">
            <a:avLst/>
          </a:prstGeom>
          <a:noFill/>
        </p:spPr>
        <p:txBody>
          <a:bodyPr wrap="square" lIns="22860" rIns="22860" tIns="22860" bIns="22860">
            <a:spAutoFit/>
          </a:bodyPr>
          <a:lstStyle/>
          <a:p>
            <a:pPr>
              <a:spcAft>
                <a:spcPts val="700"/>
              </a:spcAft>
              <a:defRPr sz="1500" b="0">
                <a:solidFill>
                  <a:srgbClr val="1967D2"/>
                </a:solidFill>
                <a:latin typeface="Google Sans Flex"/>
              </a:defRPr>
            </a:pPr>
            <a:r>
              <a:rPr>
                <a:hlinkClick r:id="rId6"/>
              </a:rPr>
              <a:t>Local: http://127.0.0.1:8000 · public hosting pending</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TextBox 166"/>
          <p:cNvSpPr txBox="1"/>
          <p:nvPr/>
        </p:nvSpPr>
        <p:spPr>
          <a:xfrm>
            <a:off x="347472" y="731520"/>
            <a:ext cx="8412480" cy="594360"/>
          </a:xfrm>
          <a:prstGeom prst="rect">
            <a:avLst/>
          </a:prstGeom>
          <a:noFill/>
        </p:spPr>
        <p:txBody>
          <a:bodyPr wrap="square" lIns="22860" rIns="22860" tIns="22860" bIns="22860">
            <a:spAutoFit/>
          </a:bodyPr>
          <a:lstStyle/>
          <a:p>
            <a:pPr>
              <a:spcAft>
                <a:spcPts val="700"/>
              </a:spcAft>
              <a:defRPr sz="1600" b="0">
                <a:solidFill>
                  <a:srgbClr val="171717"/>
                </a:solidFill>
                <a:latin typeface="Google Sans Flex Medium"/>
              </a:defRPr>
            </a:pPr>
            <a:r>
              <a:t>Three-minute demo walkthrough</a:t>
            </a:r>
          </a:p>
        </p:txBody>
      </p:sp>
      <p:sp>
        <p:nvSpPr>
          <p:cNvPr id="168" name="TextBox 167"/>
          <p:cNvSpPr txBox="1"/>
          <p:nvPr/>
        </p:nvSpPr>
        <p:spPr>
          <a:xfrm>
            <a:off x="393192" y="1508760"/>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0:00–0:35</a:t>
            </a:r>
          </a:p>
        </p:txBody>
      </p:sp>
      <p:sp>
        <p:nvSpPr>
          <p:cNvPr id="169" name="TextBox 168"/>
          <p:cNvSpPr txBox="1"/>
          <p:nvPr/>
        </p:nvSpPr>
        <p:spPr>
          <a:xfrm>
            <a:off x="2606040" y="1508760"/>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Manager overview: the approval holding up settlement delivery.</a:t>
            </a:r>
          </a:p>
        </p:txBody>
      </p:sp>
      <p:sp>
        <p:nvSpPr>
          <p:cNvPr id="170" name="TextBox 169"/>
          <p:cNvSpPr txBox="1"/>
          <p:nvPr/>
        </p:nvSpPr>
        <p:spPr>
          <a:xfrm>
            <a:off x="393192" y="2267712"/>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0:35–1:15</a:t>
            </a:r>
          </a:p>
        </p:txBody>
      </p:sp>
      <p:sp>
        <p:nvSpPr>
          <p:cNvPr id="171" name="TextBox 170"/>
          <p:cNvSpPr txBox="1"/>
          <p:nvPr/>
        </p:nvSpPr>
        <p:spPr>
          <a:xfrm>
            <a:off x="2606040" y="2267712"/>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Engineer raises a blocker; manager responds; the outcome stays tracked.</a:t>
            </a:r>
          </a:p>
        </p:txBody>
      </p:sp>
      <p:sp>
        <p:nvSpPr>
          <p:cNvPr id="172" name="TextBox 171"/>
          <p:cNvSpPr txBox="1"/>
          <p:nvPr/>
        </p:nvSpPr>
        <p:spPr>
          <a:xfrm>
            <a:off x="393192" y="3026663"/>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1:15–2:30</a:t>
            </a:r>
          </a:p>
        </p:txBody>
      </p:sp>
      <p:sp>
        <p:nvSpPr>
          <p:cNvPr id="173" name="TextBox 172"/>
          <p:cNvSpPr txBox="1"/>
          <p:nvPr/>
        </p:nvSpPr>
        <p:spPr>
          <a:xfrm>
            <a:off x="2606040" y="3026663"/>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Absence impact, ranked backups and a brief; approve, then accept.</a:t>
            </a:r>
          </a:p>
        </p:txBody>
      </p:sp>
      <p:sp>
        <p:nvSpPr>
          <p:cNvPr id="174" name="TextBox 173"/>
          <p:cNvSpPr txBox="1"/>
          <p:nvPr/>
        </p:nvSpPr>
        <p:spPr>
          <a:xfrm>
            <a:off x="393192" y="3785615"/>
            <a:ext cx="2057400" cy="411480"/>
          </a:xfrm>
          <a:prstGeom prst="rect">
            <a:avLst/>
          </a:prstGeom>
          <a:noFill/>
        </p:spPr>
        <p:txBody>
          <a:bodyPr wrap="square" lIns="22860" rIns="22860" tIns="22860" bIns="22860">
            <a:spAutoFit/>
          </a:bodyPr>
          <a:lstStyle/>
          <a:p>
            <a:pPr>
              <a:spcAft>
                <a:spcPts val="700"/>
              </a:spcAft>
              <a:defRPr sz="1500" b="1">
                <a:solidFill>
                  <a:srgbClr val="1967D2"/>
                </a:solidFill>
                <a:latin typeface="Google Sans Flex"/>
              </a:defRPr>
            </a:pPr>
            <a:r>
              <a:t>2:30–3:00</a:t>
            </a:r>
          </a:p>
        </p:txBody>
      </p:sp>
      <p:sp>
        <p:nvSpPr>
          <p:cNvPr id="175" name="TextBox 174"/>
          <p:cNvSpPr txBox="1"/>
          <p:nvPr/>
        </p:nvSpPr>
        <p:spPr>
          <a:xfrm>
            <a:off x="2606040" y="3785615"/>
            <a:ext cx="5943600" cy="612648"/>
          </a:xfrm>
          <a:prstGeom prst="rect">
            <a:avLst/>
          </a:prstGeom>
          <a:noFill/>
        </p:spPr>
        <p:txBody>
          <a:bodyPr wrap="square" lIns="22860" rIns="22860" tIns="22860" bIns="22860">
            <a:spAutoFit/>
          </a:bodyPr>
          <a:lstStyle/>
          <a:p>
            <a:pPr>
              <a:spcAft>
                <a:spcPts val="700"/>
              </a:spcAft>
              <a:defRPr sz="1400" b="0">
                <a:solidFill>
                  <a:srgbClr val="171717"/>
                </a:solidFill>
                <a:latin typeface="Google Sans Flex"/>
              </a:defRPr>
            </a:pPr>
            <a:r>
              <a:t>Notifications, AI provenance and the limits of this local prototype.</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